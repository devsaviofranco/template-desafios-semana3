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image" Target="../media/image-2-5.png"/><Relationship Id="rId6" Type="http://schemas.openxmlformats.org/officeDocument/2006/relationships/image" Target="../media/image-2-6.png"/><Relationship Id="rId7" Type="http://schemas.openxmlformats.org/officeDocument/2006/relationships/image" Target="../media/image-2-7.png"/><Relationship Id="rId8" Type="http://schemas.openxmlformats.org/officeDocument/2006/relationships/image" Target="../media/image-2-8.png"/><Relationship Id="rId9" Type="http://schemas.openxmlformats.org/officeDocument/2006/relationships/image" Target="../media/image-2-9.png"/><Relationship Id="rId10" Type="http://schemas.openxmlformats.org/officeDocument/2006/relationships/slideLayout" Target="../slideLayouts/slideLayout1.xml"/><Relationship Id="rId11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4389120"/>
            <a:ext cx="9144000" cy="73152"/>
          </a:xfrm>
          <a:prstGeom prst="rect">
            <a:avLst/>
          </a:prstGeom>
          <a:solidFill>
            <a:srgbClr val="A78BFA">
              <a:alpha val="60000"/>
            </a:srgbClr>
          </a:solidFill>
          <a:ln/>
        </p:spPr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731520"/>
            <a:ext cx="731520" cy="731520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1463040" y="731520"/>
            <a:ext cx="6858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Flask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1463040" y="1554480"/>
            <a:ext cx="6858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 com Python</a:t>
            </a:r>
            <a:endParaRPr lang="en-US" sz="2600" dirty="0"/>
          </a:p>
        </p:txBody>
      </p:sp>
      <p:sp>
        <p:nvSpPr>
          <p:cNvPr id="7" name="Shape 4"/>
          <p:cNvSpPr/>
          <p:nvPr/>
        </p:nvSpPr>
        <p:spPr>
          <a:xfrm>
            <a:off x="1463040" y="2377440"/>
            <a:ext cx="18288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1463040" y="27432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LTP3 + QP3 — Introdução a Web com Flask</a:t>
            </a:r>
            <a:endParaRPr lang="en-US" sz="1600" dirty="0"/>
          </a:p>
        </p:txBody>
      </p:sp>
      <p:sp>
        <p:nvSpPr>
          <p:cNvPr id="9" name="Text 6"/>
          <p:cNvSpPr/>
          <p:nvPr/>
        </p:nvSpPr>
        <p:spPr>
          <a:xfrm>
            <a:off x="1463040" y="3200400"/>
            <a:ext cx="64008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Prof. Rafael Martins Alves — CEMIC 2026</a:t>
            </a:r>
            <a:endParaRPr lang="en-US" sz="14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Como funciona a Web?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3200400" cy="3200400"/>
          </a:xfrm>
          <a:prstGeom prst="rect">
            <a:avLst/>
          </a:prstGeom>
          <a:solidFill>
            <a:srgbClr val="EDE9FE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3200400" cy="54864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7" name="Text 4"/>
          <p:cNvSpPr/>
          <p:nvPr/>
        </p:nvSpPr>
        <p:spPr>
          <a:xfrm>
            <a:off x="457200" y="1463040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Frontend</a:t>
            </a:r>
            <a:endParaRPr lang="en-US" sz="2200" dirty="0"/>
          </a:p>
        </p:txBody>
      </p:sp>
      <p:sp>
        <p:nvSpPr>
          <p:cNvPr id="8" name="Text 5"/>
          <p:cNvSpPr/>
          <p:nvPr/>
        </p:nvSpPr>
        <p:spPr>
          <a:xfrm>
            <a:off x="457200" y="1920240"/>
            <a:ext cx="3200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o usuário VÊ</a:t>
            </a:r>
            <a:endParaRPr lang="en-US" sz="1300" dirty="0"/>
          </a:p>
        </p:txBody>
      </p:sp>
      <p:pic>
        <p:nvPicPr>
          <p:cNvPr id="9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14400" y="2468880"/>
            <a:ext cx="201168" cy="20116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4688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HTML (estrutura)</a:t>
            </a:r>
            <a:endParaRPr lang="en-US" sz="1300" dirty="0"/>
          </a:p>
        </p:txBody>
      </p:sp>
      <p:pic>
        <p:nvPicPr>
          <p:cNvPr id="11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" y="2926080"/>
            <a:ext cx="201168" cy="201168"/>
          </a:xfrm>
          <a:prstGeom prst="rect">
            <a:avLst/>
          </a:prstGeom>
        </p:spPr>
      </p:pic>
      <p:sp>
        <p:nvSpPr>
          <p:cNvPr id="12" name="Text 7"/>
          <p:cNvSpPr/>
          <p:nvPr/>
        </p:nvSpPr>
        <p:spPr>
          <a:xfrm>
            <a:off x="1234440" y="29260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 (estilo)</a:t>
            </a:r>
            <a:endParaRPr lang="en-US" sz="1300" dirty="0"/>
          </a:p>
        </p:txBody>
      </p:sp>
      <p:pic>
        <p:nvPicPr>
          <p:cNvPr id="13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0" y="3383280"/>
            <a:ext cx="201168" cy="201168"/>
          </a:xfrm>
          <a:prstGeom prst="rect">
            <a:avLst/>
          </a:prstGeom>
        </p:spPr>
      </p:pic>
      <p:sp>
        <p:nvSpPr>
          <p:cNvPr id="14" name="Text 8"/>
          <p:cNvSpPr/>
          <p:nvPr/>
        </p:nvSpPr>
        <p:spPr>
          <a:xfrm>
            <a:off x="1234440" y="338328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JavaScript (interação)</a:t>
            </a:r>
            <a:endParaRPr lang="en-US" sz="130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977640" y="2560320"/>
            <a:ext cx="365760" cy="36576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3749040" y="3017520"/>
            <a:ext cx="822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HTTP</a:t>
            </a:r>
            <a:endParaRPr lang="en-US" sz="1100" dirty="0"/>
          </a:p>
        </p:txBody>
      </p:sp>
      <p:sp>
        <p:nvSpPr>
          <p:cNvPr id="17" name="Shape 10"/>
          <p:cNvSpPr/>
          <p:nvPr/>
        </p:nvSpPr>
        <p:spPr>
          <a:xfrm>
            <a:off x="4663440" y="1280160"/>
            <a:ext cx="4023360" cy="3200400"/>
          </a:xfrm>
          <a:prstGeom prst="rect">
            <a:avLst/>
          </a:prstGeom>
          <a:solidFill>
            <a:srgbClr val="F5F3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8" name="Shape 11"/>
          <p:cNvSpPr/>
          <p:nvPr/>
        </p:nvSpPr>
        <p:spPr>
          <a:xfrm>
            <a:off x="4663440" y="1280160"/>
            <a:ext cx="4023360" cy="54864"/>
          </a:xfrm>
          <a:prstGeom prst="rect">
            <a:avLst/>
          </a:prstGeom>
          <a:solidFill>
            <a:srgbClr val="10B981"/>
          </a:solidFill>
          <a:ln/>
        </p:spPr>
      </p:sp>
      <p:sp>
        <p:nvSpPr>
          <p:cNvPr id="19" name="Text 12"/>
          <p:cNvSpPr/>
          <p:nvPr/>
        </p:nvSpPr>
        <p:spPr>
          <a:xfrm>
            <a:off x="4663440" y="1463040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200" b="1" dirty="0">
                <a:solidFill>
                  <a:srgbClr val="10B981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Backend</a:t>
            </a:r>
            <a:endParaRPr lang="en-US" sz="2200" dirty="0"/>
          </a:p>
        </p:txBody>
      </p:sp>
      <p:sp>
        <p:nvSpPr>
          <p:cNvPr id="20" name="Text 13"/>
          <p:cNvSpPr/>
          <p:nvPr/>
        </p:nvSpPr>
        <p:spPr>
          <a:xfrm>
            <a:off x="4663440" y="1920240"/>
            <a:ext cx="40233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 que roda no SERVIDOR</a:t>
            </a:r>
            <a:endParaRPr lang="en-US" sz="1300" dirty="0"/>
          </a:p>
        </p:txBody>
      </p:sp>
      <p:pic>
        <p:nvPicPr>
          <p:cNvPr id="21" name="Image 5" descr="preencoded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120640" y="2468880"/>
            <a:ext cx="201168" cy="201168"/>
          </a:xfrm>
          <a:prstGeom prst="rect">
            <a:avLst/>
          </a:prstGeom>
        </p:spPr>
      </p:pic>
      <p:sp>
        <p:nvSpPr>
          <p:cNvPr id="22" name="Text 14"/>
          <p:cNvSpPr/>
          <p:nvPr/>
        </p:nvSpPr>
        <p:spPr>
          <a:xfrm>
            <a:off x="5440680" y="24688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/ Flask (lógica)</a:t>
            </a:r>
            <a:endParaRPr lang="en-US" sz="1300" dirty="0"/>
          </a:p>
        </p:txBody>
      </p:sp>
      <p:pic>
        <p:nvPicPr>
          <p:cNvPr id="23" name="Image 6" descr="preencoded.png">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20640" y="2926080"/>
            <a:ext cx="201168" cy="201168"/>
          </a:xfrm>
          <a:prstGeom prst="rect">
            <a:avLst/>
          </a:prstGeom>
        </p:spPr>
      </p:pic>
      <p:sp>
        <p:nvSpPr>
          <p:cNvPr id="24" name="Text 15"/>
          <p:cNvSpPr/>
          <p:nvPr/>
        </p:nvSpPr>
        <p:spPr>
          <a:xfrm>
            <a:off x="5440680" y="29260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Banco de dados</a:t>
            </a:r>
            <a:endParaRPr lang="en-US" sz="1300" dirty="0"/>
          </a:p>
        </p:txBody>
      </p:sp>
      <p:pic>
        <p:nvPicPr>
          <p:cNvPr id="25" name="Image 7" descr="preencoded.png">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5120640" y="3383280"/>
            <a:ext cx="201168" cy="201168"/>
          </a:xfrm>
          <a:prstGeom prst="rect">
            <a:avLst/>
          </a:prstGeom>
        </p:spPr>
      </p:pic>
      <p:sp>
        <p:nvSpPr>
          <p:cNvPr id="26" name="Text 16"/>
          <p:cNvSpPr/>
          <p:nvPr/>
        </p:nvSpPr>
        <p:spPr>
          <a:xfrm>
            <a:off x="5440680" y="33832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APIs e rotas</a:t>
            </a:r>
            <a:endParaRPr lang="en-US" sz="1300" dirty="0"/>
          </a:p>
        </p:txBody>
      </p:sp>
      <p:pic>
        <p:nvPicPr>
          <p:cNvPr id="27" name="Image 8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120640" y="3840480"/>
            <a:ext cx="201168" cy="201168"/>
          </a:xfrm>
          <a:prstGeom prst="rect">
            <a:avLst/>
          </a:prstGeom>
        </p:spPr>
      </p:pic>
      <p:sp>
        <p:nvSpPr>
          <p:cNvPr id="28" name="Text 17"/>
          <p:cNvSpPr/>
          <p:nvPr/>
        </p:nvSpPr>
        <p:spPr>
          <a:xfrm>
            <a:off x="5440680" y="384048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Validação de dados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O que é Flask?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Shape 3"/>
          <p:cNvSpPr/>
          <p:nvPr/>
        </p:nvSpPr>
        <p:spPr>
          <a:xfrm>
            <a:off x="457200" y="128016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63040" y="1554480"/>
            <a:ext cx="457200" cy="457200"/>
          </a:xfrm>
          <a:prstGeom prst="rect">
            <a:avLst/>
          </a:prstGeom>
        </p:spPr>
      </p:pic>
      <p:sp>
        <p:nvSpPr>
          <p:cNvPr id="8" name="Text 4"/>
          <p:cNvSpPr/>
          <p:nvPr/>
        </p:nvSpPr>
        <p:spPr>
          <a:xfrm>
            <a:off x="64008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Micro-framework</a:t>
            </a:r>
            <a:endParaRPr lang="en-US" sz="1600" dirty="0"/>
          </a:p>
        </p:txBody>
      </p:sp>
      <p:sp>
        <p:nvSpPr>
          <p:cNvPr id="9" name="Text 5"/>
          <p:cNvSpPr/>
          <p:nvPr/>
        </p:nvSpPr>
        <p:spPr>
          <a:xfrm>
            <a:off x="64008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Leve e simples. Não obriga a usar banco de dados ou formulários complexos.</a:t>
            </a:r>
            <a:endParaRPr lang="en-US" sz="1200" dirty="0"/>
          </a:p>
        </p:txBody>
      </p:sp>
      <p:sp>
        <p:nvSpPr>
          <p:cNvPr id="10" name="Shape 6"/>
          <p:cNvSpPr/>
          <p:nvPr/>
        </p:nvSpPr>
        <p:spPr>
          <a:xfrm>
            <a:off x="329184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1" name="Shape 7"/>
          <p:cNvSpPr/>
          <p:nvPr/>
        </p:nvSpPr>
        <p:spPr>
          <a:xfrm>
            <a:off x="3291840" y="128016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2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297680" y="1554480"/>
            <a:ext cx="457200" cy="457200"/>
          </a:xfrm>
          <a:prstGeom prst="rect">
            <a:avLst/>
          </a:prstGeom>
        </p:spPr>
      </p:pic>
      <p:sp>
        <p:nvSpPr>
          <p:cNvPr id="13" name="Text 8"/>
          <p:cNvSpPr/>
          <p:nvPr/>
        </p:nvSpPr>
        <p:spPr>
          <a:xfrm>
            <a:off x="347472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puro</a:t>
            </a:r>
            <a:endParaRPr lang="en-US" sz="1600" dirty="0"/>
          </a:p>
        </p:txBody>
      </p:sp>
      <p:sp>
        <p:nvSpPr>
          <p:cNvPr id="14" name="Text 9"/>
          <p:cNvSpPr/>
          <p:nvPr/>
        </p:nvSpPr>
        <p:spPr>
          <a:xfrm>
            <a:off x="347472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 o Python que vocês já conhecem. Sem linguagem nova para aprender.</a:t>
            </a:r>
            <a:endParaRPr lang="en-US" sz="1200" dirty="0"/>
          </a:p>
        </p:txBody>
      </p:sp>
      <p:sp>
        <p:nvSpPr>
          <p:cNvPr id="15" name="Shape 10"/>
          <p:cNvSpPr/>
          <p:nvPr/>
        </p:nvSpPr>
        <p:spPr>
          <a:xfrm>
            <a:off x="6126480" y="1280160"/>
            <a:ext cx="2560320" cy="25603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6" name="Shape 11"/>
          <p:cNvSpPr/>
          <p:nvPr/>
        </p:nvSpPr>
        <p:spPr>
          <a:xfrm>
            <a:off x="6126480" y="1280160"/>
            <a:ext cx="2560320" cy="54864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17" name="Image 3" descr="preencoded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132320" y="1554480"/>
            <a:ext cx="457200" cy="457200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6309360" y="219456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Usado no mercado</a:t>
            </a:r>
            <a:endParaRPr lang="en-US" sz="1600" dirty="0"/>
          </a:p>
        </p:txBody>
      </p:sp>
      <p:sp>
        <p:nvSpPr>
          <p:cNvPr id="19" name="Text 13"/>
          <p:cNvSpPr/>
          <p:nvPr/>
        </p:nvSpPr>
        <p:spPr>
          <a:xfrm>
            <a:off x="6309360" y="2606040"/>
            <a:ext cx="2194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Netflix, Pinterest, LinkedIn usam Flask. Tecnologia profissional.</a:t>
            </a:r>
            <a:endParaRPr lang="en-US" sz="1200" dirty="0"/>
          </a:p>
        </p:txBody>
      </p:sp>
      <p:sp>
        <p:nvSpPr>
          <p:cNvPr id="20" name="Shape 14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21" name="Text 15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pip install flask</a:t>
            </a:r>
            <a:endParaRPr lang="en-US" sz="20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Primeiro App: Hello World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4114800" cy="292608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731520" y="1600200"/>
            <a:ext cx="3657600" cy="2651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 = Flask(__name__)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inicio():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"Hello World!"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if __name__ == "__main__":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app.run(debug=True)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5029200" y="109728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Passo a passo</a:t>
            </a:r>
            <a:endParaRPr lang="en-US" sz="1800" dirty="0"/>
          </a:p>
        </p:txBody>
      </p:sp>
      <p:sp>
        <p:nvSpPr>
          <p:cNvPr id="9" name="Shape 6"/>
          <p:cNvSpPr/>
          <p:nvPr/>
        </p:nvSpPr>
        <p:spPr>
          <a:xfrm>
            <a:off x="5029200" y="1645920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0" name="Text 7"/>
          <p:cNvSpPr/>
          <p:nvPr/>
        </p:nvSpPr>
        <p:spPr>
          <a:xfrm>
            <a:off x="5029200" y="1645920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5486400" y="1645920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Importa o Flask</a:t>
            </a:r>
            <a:endParaRPr lang="en-US" sz="1300" dirty="0"/>
          </a:p>
        </p:txBody>
      </p:sp>
      <p:sp>
        <p:nvSpPr>
          <p:cNvPr id="12" name="Shape 9"/>
          <p:cNvSpPr/>
          <p:nvPr/>
        </p:nvSpPr>
        <p:spPr>
          <a:xfrm>
            <a:off x="5029200" y="2176272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3" name="Text 10"/>
          <p:cNvSpPr/>
          <p:nvPr/>
        </p:nvSpPr>
        <p:spPr>
          <a:xfrm>
            <a:off x="5029200" y="2176272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4" name="Text 11"/>
          <p:cNvSpPr/>
          <p:nvPr/>
        </p:nvSpPr>
        <p:spPr>
          <a:xfrm>
            <a:off x="5486400" y="2176272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Cria a aplicação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5029200" y="2706624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5029200" y="2706624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7" name="Text 14"/>
          <p:cNvSpPr/>
          <p:nvPr/>
        </p:nvSpPr>
        <p:spPr>
          <a:xfrm>
            <a:off x="5486400" y="2706624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@app.route define a URL</a:t>
            </a:r>
            <a:endParaRPr lang="en-US" sz="1300" dirty="0"/>
          </a:p>
        </p:txBody>
      </p:sp>
      <p:sp>
        <p:nvSpPr>
          <p:cNvPr id="18" name="Shape 15"/>
          <p:cNvSpPr/>
          <p:nvPr/>
        </p:nvSpPr>
        <p:spPr>
          <a:xfrm>
            <a:off x="5029200" y="3236976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9" name="Text 16"/>
          <p:cNvSpPr/>
          <p:nvPr/>
        </p:nvSpPr>
        <p:spPr>
          <a:xfrm>
            <a:off x="5029200" y="3236976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20" name="Text 17"/>
          <p:cNvSpPr/>
          <p:nvPr/>
        </p:nvSpPr>
        <p:spPr>
          <a:xfrm>
            <a:off x="5486400" y="3236976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função retorna o conteúdo</a:t>
            </a:r>
            <a:endParaRPr lang="en-US" sz="1300" dirty="0"/>
          </a:p>
        </p:txBody>
      </p:sp>
      <p:sp>
        <p:nvSpPr>
          <p:cNvPr id="21" name="Shape 18"/>
          <p:cNvSpPr/>
          <p:nvPr/>
        </p:nvSpPr>
        <p:spPr>
          <a:xfrm>
            <a:off x="5029200" y="3767328"/>
            <a:ext cx="320040" cy="32004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2" name="Text 19"/>
          <p:cNvSpPr/>
          <p:nvPr/>
        </p:nvSpPr>
        <p:spPr>
          <a:xfrm>
            <a:off x="5029200" y="3767328"/>
            <a:ext cx="3200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3" name="Text 20"/>
          <p:cNvSpPr/>
          <p:nvPr/>
        </p:nvSpPr>
        <p:spPr>
          <a:xfrm>
            <a:off x="5486400" y="3767328"/>
            <a:ext cx="3200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0F17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debug=True recarrega sozinho</a:t>
            </a:r>
            <a:endParaRPr lang="en-US" sz="1300" dirty="0"/>
          </a:p>
        </p:txBody>
      </p:sp>
      <p:sp>
        <p:nvSpPr>
          <p:cNvPr id="24" name="Shape 21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solidFill>
            <a:srgbClr val="1E293B"/>
          </a:solidFill>
          <a:ln/>
        </p:spPr>
      </p:sp>
      <p:sp>
        <p:nvSpPr>
          <p:cNvPr id="25" name="Text 22"/>
          <p:cNvSpPr/>
          <p:nvPr/>
        </p:nvSpPr>
        <p:spPr>
          <a:xfrm>
            <a:off x="5029200" y="4114800"/>
            <a:ext cx="3657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python app.py</a:t>
            </a:r>
            <a:endParaRPr lang="en-US" sz="16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Rotas: URLs do seu App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822960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71600"/>
            <a:ext cx="768096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Rota simples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inicio():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"Página inicial"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Rota com parâmetro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@app.route("/aluno/&lt;nome&gt;")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aluno(nome):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f"Olá, {nome}!"</a:t>
            </a:r>
            <a:endParaRPr lang="en-US" sz="1300" dirty="0"/>
          </a:p>
          <a:p>
            <a:pPr indent="0" marL="0">
              <a:buNone/>
            </a:pP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# Rota com cálculo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@app.route("/somar/&lt;int:a&gt;/&lt;int:b&gt;")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somar(a, b):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f"{a} + {b} = {a + b}"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Templates HTML com Jinja2</a:t>
            </a:r>
            <a:endParaRPr lang="en-US" sz="2800" dirty="0"/>
          </a:p>
        </p:txBody>
      </p:sp>
      <p:sp>
        <p:nvSpPr>
          <p:cNvPr id="5" name="Text 2"/>
          <p:cNvSpPr/>
          <p:nvPr/>
        </p:nvSpPr>
        <p:spPr>
          <a:xfrm>
            <a:off x="45720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400" dirty="0"/>
          </a:p>
        </p:txBody>
      </p:sp>
      <p:sp>
        <p:nvSpPr>
          <p:cNvPr id="6" name="Shape 3"/>
          <p:cNvSpPr/>
          <p:nvPr/>
        </p:nvSpPr>
        <p:spPr>
          <a:xfrm>
            <a:off x="457200" y="146304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7" name="Text 4"/>
          <p:cNvSpPr/>
          <p:nvPr/>
        </p:nvSpPr>
        <p:spPr>
          <a:xfrm>
            <a:off x="640080" y="15544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from flask import Flask,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render_template, request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@app.route("/imc", methods=["GET","POST"])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def imc():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if request.method == "POST":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peso = float(request.form["peso"])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alt = float(request.form["alt"])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 = peso / alt ** 2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return render_template(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        "imc.html", resultado=r)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return render_template("imc.html")</a:t>
            </a:r>
            <a:endParaRPr lang="en-US" sz="1050" dirty="0"/>
          </a:p>
        </p:txBody>
      </p:sp>
      <p:sp>
        <p:nvSpPr>
          <p:cNvPr id="8" name="Text 5"/>
          <p:cNvSpPr/>
          <p:nvPr/>
        </p:nvSpPr>
        <p:spPr>
          <a:xfrm>
            <a:off x="4754880" y="1097280"/>
            <a:ext cx="3931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templates/imc.html</a:t>
            </a:r>
            <a:endParaRPr lang="en-US" sz="1400" dirty="0"/>
          </a:p>
        </p:txBody>
      </p:sp>
      <p:sp>
        <p:nvSpPr>
          <p:cNvPr id="9" name="Shape 6"/>
          <p:cNvSpPr/>
          <p:nvPr/>
        </p:nvSpPr>
        <p:spPr>
          <a:xfrm>
            <a:off x="4754880" y="1463040"/>
            <a:ext cx="3931920" cy="237744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10" name="Text 7"/>
          <p:cNvSpPr/>
          <p:nvPr/>
        </p:nvSpPr>
        <p:spPr>
          <a:xfrm>
            <a:off x="4937760" y="1554480"/>
            <a:ext cx="3566160" cy="21945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&lt;form method="POST"&gt;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name="peso"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placeholder="Peso (kg)"&gt;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&lt;input name="alt"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placeholder="Altura (m)"&gt;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&lt;button&gt;Calcular&lt;/button&gt;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&lt;/form&gt;</a:t>
            </a:r>
            <a:endParaRPr lang="en-US" sz="1050" dirty="0"/>
          </a:p>
          <a:p>
            <a:pPr indent="0" marL="0">
              <a:buNone/>
            </a:pP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if resultado %}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&lt;p&gt;IMC: {{ resultado }}&lt;/p&gt;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F59E0B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{% endif %}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457200" y="4114800"/>
            <a:ext cx="8229600" cy="731520"/>
          </a:xfrm>
          <a:prstGeom prst="rect">
            <a:avLst/>
          </a:prstGeom>
          <a:solidFill>
            <a:srgbClr val="F5F3FF"/>
          </a:solidFill>
          <a:ln/>
        </p:spPr>
      </p:sp>
      <p:pic>
        <p:nvPicPr>
          <p:cNvPr id="12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4251960"/>
            <a:ext cx="320040" cy="320040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1188720" y="4114800"/>
            <a:ext cx="73152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Estrutura:  meu_app/ &gt; app.py + templates/ &gt; imc.html  —  Flask procura .html em templates/</a:t>
            </a:r>
            <a:endParaRPr lang="en-US" sz="12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Estrutura de um Projeto Flask</a:t>
            </a:r>
            <a:endParaRPr lang="en-US" sz="2800" dirty="0"/>
          </a:p>
        </p:txBody>
      </p:sp>
      <p:sp>
        <p:nvSpPr>
          <p:cNvPr id="5" name="Shape 2"/>
          <p:cNvSpPr/>
          <p:nvPr/>
        </p:nvSpPr>
        <p:spPr>
          <a:xfrm>
            <a:off x="457200" y="1188720"/>
            <a:ext cx="3931920" cy="3474720"/>
          </a:xfrm>
          <a:prstGeom prst="rect">
            <a:avLst/>
          </a:prstGeom>
          <a:solidFill>
            <a:srgbClr val="1E293B"/>
          </a:solidFill>
          <a:ln/>
          <a:effectLst>
            <a:outerShdw sx="100000" sy="100000" kx="0" ky="0" algn="bl" rotWithShape="0" blurRad="76200" dist="25400" dir="8100000">
              <a:srgbClr val="000000">
                <a:alpha val="15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731520" y="1371600"/>
            <a:ext cx="3474720" cy="3108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400" b="1" dirty="0">
                <a:solidFill>
                  <a:srgbClr val="10B981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meu-projeto/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app.py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requirements.txt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templates/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index.html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resultado.html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static/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style.css</a:t>
            </a:r>
            <a:endParaRPr lang="en-US" sz="1400" dirty="0"/>
          </a:p>
          <a:p>
            <a:pPr indent="0" marL="0">
              <a:buNone/>
            </a:pPr>
            <a:r>
              <a:rPr lang="en-US" sz="1400" b="1" dirty="0">
                <a:solidFill>
                  <a:srgbClr val="A78BFA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tests/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E2E8F0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    test_app.py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4754880" y="1280160"/>
            <a:ext cx="3931920" cy="54864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8" name="Text 5"/>
          <p:cNvSpPr/>
          <p:nvPr/>
        </p:nvSpPr>
        <p:spPr>
          <a:xfrm>
            <a:off x="4937760" y="1280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app.py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6583680" y="128016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 principal com rotas e lógica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4754880" y="192024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1" name="Text 8"/>
          <p:cNvSpPr/>
          <p:nvPr/>
        </p:nvSpPr>
        <p:spPr>
          <a:xfrm>
            <a:off x="4937760" y="19202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requirements.txt</a:t>
            </a:r>
            <a:endParaRPr lang="en-US" sz="1300" dirty="0"/>
          </a:p>
        </p:txBody>
      </p:sp>
      <p:sp>
        <p:nvSpPr>
          <p:cNvPr id="12" name="Text 9"/>
          <p:cNvSpPr/>
          <p:nvPr/>
        </p:nvSpPr>
        <p:spPr>
          <a:xfrm>
            <a:off x="6583680" y="192024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Dependências (flask)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4754880" y="2560320"/>
            <a:ext cx="3931920" cy="54864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14" name="Text 11"/>
          <p:cNvSpPr/>
          <p:nvPr/>
        </p:nvSpPr>
        <p:spPr>
          <a:xfrm>
            <a:off x="4937760" y="25603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templates/</a:t>
            </a:r>
            <a:endParaRPr lang="en-US" sz="1300" dirty="0"/>
          </a:p>
        </p:txBody>
      </p:sp>
      <p:sp>
        <p:nvSpPr>
          <p:cNvPr id="15" name="Text 12"/>
          <p:cNvSpPr/>
          <p:nvPr/>
        </p:nvSpPr>
        <p:spPr>
          <a:xfrm>
            <a:off x="6583680" y="256032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Arquivos HTML com Jinja2</a:t>
            </a:r>
            <a:endParaRPr lang="en-US" sz="1200" dirty="0"/>
          </a:p>
        </p:txBody>
      </p:sp>
      <p:sp>
        <p:nvSpPr>
          <p:cNvPr id="16" name="Shape 13"/>
          <p:cNvSpPr/>
          <p:nvPr/>
        </p:nvSpPr>
        <p:spPr>
          <a:xfrm>
            <a:off x="4754880" y="3200400"/>
            <a:ext cx="3931920" cy="54864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7" name="Text 14"/>
          <p:cNvSpPr/>
          <p:nvPr/>
        </p:nvSpPr>
        <p:spPr>
          <a:xfrm>
            <a:off x="4937760" y="3200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static/</a:t>
            </a:r>
            <a:endParaRPr lang="en-US" sz="1300" dirty="0"/>
          </a:p>
        </p:txBody>
      </p:sp>
      <p:sp>
        <p:nvSpPr>
          <p:cNvPr id="18" name="Text 15"/>
          <p:cNvSpPr/>
          <p:nvPr/>
        </p:nvSpPr>
        <p:spPr>
          <a:xfrm>
            <a:off x="6583680" y="320040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CSS, imagens, JavaScript</a:t>
            </a:r>
            <a:endParaRPr lang="en-US" sz="1200" dirty="0"/>
          </a:p>
        </p:txBody>
      </p:sp>
      <p:sp>
        <p:nvSpPr>
          <p:cNvPr id="19" name="Shape 16"/>
          <p:cNvSpPr/>
          <p:nvPr/>
        </p:nvSpPr>
        <p:spPr>
          <a:xfrm>
            <a:off x="4754880" y="3840480"/>
            <a:ext cx="3931920" cy="548640"/>
          </a:xfrm>
          <a:prstGeom prst="rect">
            <a:avLst/>
          </a:prstGeom>
          <a:solidFill>
            <a:srgbClr val="F5F3FF"/>
          </a:solidFill>
          <a:ln/>
        </p:spPr>
      </p:sp>
      <p:sp>
        <p:nvSpPr>
          <p:cNvPr id="20" name="Text 17"/>
          <p:cNvSpPr/>
          <p:nvPr/>
        </p:nvSpPr>
        <p:spPr>
          <a:xfrm>
            <a:off x="4937760" y="38404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3AED"/>
                </a:solidFill>
                <a:latin typeface="Consolas" pitchFamily="34" charset="0"/>
                <a:ea typeface="Consolas" pitchFamily="34" charset="-122"/>
                <a:cs typeface="Consolas" pitchFamily="34" charset="-120"/>
              </a:rPr>
              <a:t>tests/</a:t>
            </a:r>
            <a:endParaRPr lang="en-US" sz="1300" dirty="0"/>
          </a:p>
        </p:txBody>
      </p:sp>
      <p:sp>
        <p:nvSpPr>
          <p:cNvPr id="21" name="Text 18"/>
          <p:cNvSpPr/>
          <p:nvPr/>
        </p:nvSpPr>
        <p:spPr>
          <a:xfrm>
            <a:off x="6583680" y="3840480"/>
            <a:ext cx="2011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Testes automáticos (pytest)</a:t>
            </a:r>
            <a:endParaRPr lang="en-US" sz="12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0F17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37160" cy="51435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457200"/>
            <a:ext cx="548640" cy="54864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280160" y="45720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Mini-Projeto Flask</a:t>
            </a:r>
            <a:endParaRPr lang="en-US" sz="3200" dirty="0"/>
          </a:p>
        </p:txBody>
      </p:sp>
      <p:sp>
        <p:nvSpPr>
          <p:cNvPr id="5" name="Shape 2"/>
          <p:cNvSpPr/>
          <p:nvPr/>
        </p:nvSpPr>
        <p:spPr>
          <a:xfrm>
            <a:off x="1280160" y="1188720"/>
            <a:ext cx="1371600" cy="36576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6" name="Text 3"/>
          <p:cNvSpPr/>
          <p:nvPr/>
        </p:nvSpPr>
        <p:spPr>
          <a:xfrm>
            <a:off x="1280160" y="13716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A78BF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Individual — Escolha 1 tema — Entrega via GitHub Classroom</a:t>
            </a:r>
            <a:endParaRPr lang="en-US" sz="1400" dirty="0"/>
          </a:p>
        </p:txBody>
      </p:sp>
      <p:sp>
        <p:nvSpPr>
          <p:cNvPr id="7" name="Shape 4"/>
          <p:cNvSpPr/>
          <p:nvPr/>
        </p:nvSpPr>
        <p:spPr>
          <a:xfrm>
            <a:off x="1280160" y="1920240"/>
            <a:ext cx="365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8" name="Text 5"/>
          <p:cNvSpPr/>
          <p:nvPr/>
        </p:nvSpPr>
        <p:spPr>
          <a:xfrm>
            <a:off x="1280160" y="192024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1828800" y="192024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Calculadora de IMC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4572000" y="192024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Formulário peso/altura, calcula e classifica</a:t>
            </a:r>
            <a:endParaRPr lang="en-US" sz="1300" dirty="0"/>
          </a:p>
        </p:txBody>
      </p:sp>
      <p:sp>
        <p:nvSpPr>
          <p:cNvPr id="11" name="Shape 8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2" name="Text 9"/>
          <p:cNvSpPr/>
          <p:nvPr/>
        </p:nvSpPr>
        <p:spPr>
          <a:xfrm>
            <a:off x="1280160" y="246888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3" name="Text 10"/>
          <p:cNvSpPr/>
          <p:nvPr/>
        </p:nvSpPr>
        <p:spPr>
          <a:xfrm>
            <a:off x="1828800" y="246888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Conversor de Moedas</a:t>
            </a:r>
            <a:endParaRPr lang="en-US" sz="1500" dirty="0"/>
          </a:p>
        </p:txBody>
      </p:sp>
      <p:sp>
        <p:nvSpPr>
          <p:cNvPr id="14" name="Text 11"/>
          <p:cNvSpPr/>
          <p:nvPr/>
        </p:nvSpPr>
        <p:spPr>
          <a:xfrm>
            <a:off x="4572000" y="246888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Valor + moeda origem/destino, converte</a:t>
            </a:r>
            <a:endParaRPr lang="en-US" sz="1300" dirty="0"/>
          </a:p>
        </p:txBody>
      </p:sp>
      <p:sp>
        <p:nvSpPr>
          <p:cNvPr id="15" name="Shape 12"/>
          <p:cNvSpPr/>
          <p:nvPr/>
        </p:nvSpPr>
        <p:spPr>
          <a:xfrm>
            <a:off x="1280160" y="3017520"/>
            <a:ext cx="365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16" name="Text 13"/>
          <p:cNvSpPr/>
          <p:nvPr/>
        </p:nvSpPr>
        <p:spPr>
          <a:xfrm>
            <a:off x="1280160" y="301752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17" name="Text 14"/>
          <p:cNvSpPr/>
          <p:nvPr/>
        </p:nvSpPr>
        <p:spPr>
          <a:xfrm>
            <a:off x="1828800" y="301752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Lista de Tarefas</a:t>
            </a:r>
            <a:endParaRPr lang="en-US" sz="1500" dirty="0"/>
          </a:p>
        </p:txBody>
      </p:sp>
      <p:sp>
        <p:nvSpPr>
          <p:cNvPr id="18" name="Text 15"/>
          <p:cNvSpPr/>
          <p:nvPr/>
        </p:nvSpPr>
        <p:spPr>
          <a:xfrm>
            <a:off x="4572000" y="301752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Adicionar, listar e remover tarefas</a:t>
            </a:r>
            <a:endParaRPr lang="en-US" sz="1300" dirty="0"/>
          </a:p>
        </p:txBody>
      </p:sp>
      <p:sp>
        <p:nvSpPr>
          <p:cNvPr id="19" name="Shape 16"/>
          <p:cNvSpPr/>
          <p:nvPr/>
        </p:nvSpPr>
        <p:spPr>
          <a:xfrm>
            <a:off x="1280160" y="3566160"/>
            <a:ext cx="365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0" name="Text 17"/>
          <p:cNvSpPr/>
          <p:nvPr/>
        </p:nvSpPr>
        <p:spPr>
          <a:xfrm>
            <a:off x="1280160" y="356616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1" name="Text 18"/>
          <p:cNvSpPr/>
          <p:nvPr/>
        </p:nvSpPr>
        <p:spPr>
          <a:xfrm>
            <a:off x="1828800" y="356616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Cadastro de Alunos</a:t>
            </a:r>
            <a:endParaRPr lang="en-US" sz="1500" dirty="0"/>
          </a:p>
        </p:txBody>
      </p:sp>
      <p:sp>
        <p:nvSpPr>
          <p:cNvPr id="22" name="Text 19"/>
          <p:cNvSpPr/>
          <p:nvPr/>
        </p:nvSpPr>
        <p:spPr>
          <a:xfrm>
            <a:off x="4572000" y="356616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Nome + nota, listar aprovados/reprovados</a:t>
            </a:r>
            <a:endParaRPr lang="en-US" sz="1300" dirty="0"/>
          </a:p>
        </p:txBody>
      </p:sp>
      <p:sp>
        <p:nvSpPr>
          <p:cNvPr id="23" name="Shape 20"/>
          <p:cNvSpPr/>
          <p:nvPr/>
        </p:nvSpPr>
        <p:spPr>
          <a:xfrm>
            <a:off x="1280160" y="4114800"/>
            <a:ext cx="365760" cy="365760"/>
          </a:xfrm>
          <a:prstGeom prst="rect">
            <a:avLst/>
          </a:prstGeom>
          <a:solidFill>
            <a:srgbClr val="7C3AED"/>
          </a:solidFill>
          <a:ln/>
        </p:spPr>
      </p:sp>
      <p:sp>
        <p:nvSpPr>
          <p:cNvPr id="24" name="Text 21"/>
          <p:cNvSpPr/>
          <p:nvPr/>
        </p:nvSpPr>
        <p:spPr>
          <a:xfrm>
            <a:off x="1280160" y="4114800"/>
            <a:ext cx="365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400" dirty="0"/>
          </a:p>
        </p:txBody>
      </p:sp>
      <p:sp>
        <p:nvSpPr>
          <p:cNvPr id="25" name="Text 22"/>
          <p:cNvSpPr/>
          <p:nvPr/>
        </p:nvSpPr>
        <p:spPr>
          <a:xfrm>
            <a:off x="1828800" y="4114800"/>
            <a:ext cx="2743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Quiz de Python</a:t>
            </a:r>
            <a:endParaRPr lang="en-US" sz="1500" dirty="0"/>
          </a:p>
        </p:txBody>
      </p:sp>
      <p:sp>
        <p:nvSpPr>
          <p:cNvPr id="26" name="Text 23"/>
          <p:cNvSpPr/>
          <p:nvPr/>
        </p:nvSpPr>
        <p:spPr>
          <a:xfrm>
            <a:off x="4572000" y="4114800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Perguntas sobre Python, calcula pontuação</a:t>
            </a:r>
            <a:endParaRPr lang="en-US" sz="1300" dirty="0"/>
          </a:p>
        </p:txBody>
      </p:sp>
      <p:sp>
        <p:nvSpPr>
          <p:cNvPr id="27" name="Text 24"/>
          <p:cNvSpPr/>
          <p:nvPr/>
        </p:nvSpPr>
        <p:spPr>
          <a:xfrm>
            <a:off x="1280160" y="4572000"/>
            <a:ext cx="7315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Requisitos: app.py funcional + pelo menos 1 template HTML + formulário POST + validação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7C3AED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48640" y="182880"/>
            <a:ext cx="457200" cy="4572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1188720" y="137160"/>
            <a:ext cx="7315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Trebuchet MS" pitchFamily="34" charset="0"/>
                <a:ea typeface="Trebuchet MS" pitchFamily="34" charset="-122"/>
                <a:cs typeface="Trebuchet MS" pitchFamily="34" charset="-120"/>
              </a:rPr>
              <a:t>Critérios de Avaliação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1188720"/>
          <a:ext cx="822960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4572000"/>
                <a:gridCol w="1828800"/>
              </a:tblGrid>
              <a:tr h="45720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Critério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Descrição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Pontos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7C3AED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App roda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python app.py funciona sem erro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Rotas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Pelo menos 2 rotas funcionais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Template HTML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 render_template com Jinja2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Formulário POST que processa dados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F3FF"/>
                    </a:solidFill>
                  </a:tcPr>
                </a:tc>
              </a:tr>
              <a:tr h="45720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Validação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200" dirty="0">
                          <a:solidFill>
                            <a:srgbClr val="0F17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Valida entrada (try/except ou if/else)</a:t>
                      </a:r>
                      <a:endParaRPr lang="en-US" sz="12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7C3AED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8F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6" name="Shape 2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solidFill>
            <a:srgbClr val="EDE9FE"/>
          </a:solidFill>
          <a:ln/>
        </p:spPr>
      </p:sp>
      <p:sp>
        <p:nvSpPr>
          <p:cNvPr id="7" name="Text 3"/>
          <p:cNvSpPr/>
          <p:nvPr/>
        </p:nvSpPr>
        <p:spPr>
          <a:xfrm>
            <a:off x="457200" y="4114800"/>
            <a:ext cx="82296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7C3AE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Total: 100 pontos — Nota compartilhada LTP3 + QP3</a:t>
            </a:r>
            <a:endParaRPr lang="en-US" sz="16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Introdução ao Flask</dc:title>
  <dc:subject>PptxGenJS Presentation</dc:subject>
  <dc:creator>Prof. Rafael Martins Alves</dc:creator>
  <cp:lastModifiedBy>Prof. Rafael Martins Alves</cp:lastModifiedBy>
  <cp:revision>1</cp:revision>
  <dcterms:created xsi:type="dcterms:W3CDTF">2026-03-02T18:23:42Z</dcterms:created>
  <dcterms:modified xsi:type="dcterms:W3CDTF">2026-03-02T18:23:42Z</dcterms:modified>
</cp:coreProperties>
</file>